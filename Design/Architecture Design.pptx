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4"/>
  </p:notesMasterIdLst>
  <p:sldIdLst>
    <p:sldId id="256" r:id="rId2"/>
    <p:sldId id="272" r:id="rId3"/>
    <p:sldId id="265" r:id="rId4"/>
    <p:sldId id="261" r:id="rId5"/>
    <p:sldId id="266" r:id="rId6"/>
    <p:sldId id="267" r:id="rId7"/>
    <p:sldId id="268" r:id="rId8"/>
    <p:sldId id="260" r:id="rId9"/>
    <p:sldId id="271" r:id="rId10"/>
    <p:sldId id="269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404" autoAdjust="0"/>
  </p:normalViewPr>
  <p:slideViewPr>
    <p:cSldViewPr snapToGrid="0">
      <p:cViewPr>
        <p:scale>
          <a:sx n="74" d="100"/>
          <a:sy n="74" d="100"/>
        </p:scale>
        <p:origin x="3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51D29-F23B-4488-BE09-21614C3022D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F1125-A216-486F-BD59-3385655EA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0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F38C-1CA6-3770-D4EC-D87CA6DF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3BC60-39F0-D5A0-7607-DADE81D7C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B92BF-FB4A-C1F2-2F1A-DB54CC69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5C681-7065-3BB7-15C8-3134F2666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3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5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5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8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458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0018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96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41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1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0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5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34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02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20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1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22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38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23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72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73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0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7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68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1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69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752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79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250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4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415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40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183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6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291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682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503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011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08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Sunday, September 13,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384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118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0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113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7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935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451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4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7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54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Sunday, September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  <p:sldLayoutId id="2147483909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22D0-0D05-9549-CA7C-934FCAB4C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anchor="t">
            <a:normAutofit/>
          </a:bodyPr>
          <a:lstStyle/>
          <a:p>
            <a:r>
              <a:rPr lang="en-US" dirty="0" err="1"/>
              <a:t>SalesGenie</a:t>
            </a:r>
            <a:r>
              <a:rPr lang="en-US" dirty="0"/>
              <a:t> – AI Powered sales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D1585-1C5B-DA21-3A4A-327F6C985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anchor="ctr">
            <a:normAutofit/>
          </a:bodyPr>
          <a:lstStyle/>
          <a:p>
            <a:r>
              <a:rPr lang="en-US" dirty="0"/>
              <a:t>Capstone Project</a:t>
            </a:r>
          </a:p>
          <a:p>
            <a:r>
              <a:rPr lang="en-US" dirty="0"/>
              <a:t>By Sreedevi </a:t>
            </a:r>
            <a:r>
              <a:rPr lang="en-US" dirty="0" err="1"/>
              <a:t>balaji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4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23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SalesGenie — business context, problem &amp;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463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· Oak &amp; Ember Interiors, a fictional nationwide furniture retailer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657600" cy="4681728"/>
          </a:xfrm>
          <a:prstGeom prst="roundRect">
            <a:avLst>
              <a:gd name="adj" fmla="val 1500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3255264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 &amp; Ember Interiors — fictional nationwide furniture retailer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sales reps, each handling ~15 inbound leads per day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arrive by email and are triaged manually today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CRM is effectively an Excel sheet, updated by hand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scope: Sales Representative is the sole primary persona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051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3657600" cy="4754880"/>
          </a:xfrm>
          <a:prstGeom prst="roundRect">
            <a:avLst>
              <a:gd name="adj" fmla="val 1500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53128" y="1691640"/>
            <a:ext cx="3255264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triage, qualification and drafting don't scale with lead volume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qualification risks losing high-value leads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spend time on repetitive admin instead of selling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responses reduce the odds of converting a lead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visibility into how leads are actually handled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0515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3880" y="1051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508760"/>
            <a:ext cx="3657600" cy="4681728"/>
          </a:xfrm>
          <a:prstGeom prst="roundRect">
            <a:avLst>
              <a:gd name="adj" fmla="val 1500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1691640"/>
            <a:ext cx="3255264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SalesGenie: a multi-agent AI pipeline built in n8n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flow: ingest → qualify → recommend → draft reply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update runs in parallel; weekly insights on its own cadence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rules and evaluation built in from day one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tracing gives full observability across every run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stays in the loop for customer-facing replies at launch</a:t>
            </a:r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Weekly Insight Report Generator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5A98-0E55-0710-7ABE-917C769F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E01BE44-C255-0766-C8CC-F4CDEA80DAB2}"/>
              </a:ext>
            </a:extLst>
          </p:cNvPr>
          <p:cNvSpPr/>
          <p:nvPr/>
        </p:nvSpPr>
        <p:spPr>
          <a:xfrm>
            <a:off x="5088636" y="777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58AD8F-AFF6-B8B8-B881-8335F3BA944F}"/>
              </a:ext>
            </a:extLst>
          </p:cNvPr>
          <p:cNvSpPr/>
          <p:nvPr/>
        </p:nvSpPr>
        <p:spPr>
          <a:xfrm>
            <a:off x="5088636" y="77724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 email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node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685056-8F54-2DB2-0499-FC29286C80F1}"/>
              </a:ext>
            </a:extLst>
          </p:cNvPr>
          <p:cNvSpPr/>
          <p:nvPr/>
        </p:nvSpPr>
        <p:spPr>
          <a:xfrm>
            <a:off x="4037076" y="1600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19DCCB-1EA1-BA6C-E67C-3B3B3149AE9A}"/>
              </a:ext>
            </a:extLst>
          </p:cNvPr>
          <p:cNvSpPr/>
          <p:nvPr/>
        </p:nvSpPr>
        <p:spPr>
          <a:xfrm>
            <a:off x="4037076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lead email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524FE6-525F-20A7-B655-3DE0AC8C526F}"/>
              </a:ext>
            </a:extLst>
          </p:cNvPr>
          <p:cNvSpPr/>
          <p:nvPr/>
        </p:nvSpPr>
        <p:spPr>
          <a:xfrm>
            <a:off x="4037076" y="24231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46109-2222-04A4-CB6B-8C778212F9A8}"/>
              </a:ext>
            </a:extLst>
          </p:cNvPr>
          <p:cNvSpPr/>
          <p:nvPr/>
        </p:nvSpPr>
        <p:spPr>
          <a:xfrm>
            <a:off x="4037076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qualifier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lead quality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C7A0B4-9397-1935-5914-9D8983F33123}"/>
              </a:ext>
            </a:extLst>
          </p:cNvPr>
          <p:cNvSpPr/>
          <p:nvPr/>
        </p:nvSpPr>
        <p:spPr>
          <a:xfrm>
            <a:off x="4046220" y="32461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CC44D9C-0610-9F18-8D0C-00E3CA42153B}"/>
              </a:ext>
            </a:extLst>
          </p:cNvPr>
          <p:cNvSpPr/>
          <p:nvPr/>
        </p:nvSpPr>
        <p:spPr>
          <a:xfrm>
            <a:off x="4037076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Recommender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Product Catalog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4D0BA00-02B9-34B6-7150-8B154BC231BD}"/>
              </a:ext>
            </a:extLst>
          </p:cNvPr>
          <p:cNvSpPr/>
          <p:nvPr/>
        </p:nvSpPr>
        <p:spPr>
          <a:xfrm>
            <a:off x="2208276" y="42519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FB3C367-1DB4-7DCC-BF7D-E3BE9C331D17}"/>
              </a:ext>
            </a:extLst>
          </p:cNvPr>
          <p:cNvSpPr/>
          <p:nvPr/>
        </p:nvSpPr>
        <p:spPr>
          <a:xfrm>
            <a:off x="2208276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Drafter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Email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620B3C4-AE3A-B389-EE11-2FBC1FABDFBE}"/>
              </a:ext>
            </a:extLst>
          </p:cNvPr>
          <p:cNvSpPr/>
          <p:nvPr/>
        </p:nvSpPr>
        <p:spPr>
          <a:xfrm>
            <a:off x="4905756" y="42519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9EC7233-00F7-43AF-51B1-0FAA523BC03A}"/>
              </a:ext>
            </a:extLst>
          </p:cNvPr>
          <p:cNvSpPr/>
          <p:nvPr/>
        </p:nvSpPr>
        <p:spPr>
          <a:xfrm>
            <a:off x="4905756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auto-update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CSV batch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AE29F4B-4526-20BF-3F8B-DF5C7FEF6273}"/>
              </a:ext>
            </a:extLst>
          </p:cNvPr>
          <p:cNvSpPr/>
          <p:nvPr/>
        </p:nvSpPr>
        <p:spPr>
          <a:xfrm>
            <a:off x="8972247" y="41833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C8B9AB9-1E44-4E01-2643-5FE2BB721FBF}"/>
              </a:ext>
            </a:extLst>
          </p:cNvPr>
          <p:cNvSpPr/>
          <p:nvPr/>
        </p:nvSpPr>
        <p:spPr>
          <a:xfrm>
            <a:off x="8972247" y="418338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insights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report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688B60F-53FE-7BFB-CF95-7F96F5137D94}"/>
              </a:ext>
            </a:extLst>
          </p:cNvPr>
          <p:cNvSpPr/>
          <p:nvPr/>
        </p:nvSpPr>
        <p:spPr>
          <a:xfrm>
            <a:off x="1751076" y="5166360"/>
            <a:ext cx="8686800" cy="548640"/>
          </a:xfrm>
          <a:prstGeom prst="roundRect">
            <a:avLst>
              <a:gd name="adj" fmla="val 13333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9B99FA8-B30A-2B29-3C18-957B3F7ADFBD}"/>
              </a:ext>
            </a:extLst>
          </p:cNvPr>
          <p:cNvSpPr/>
          <p:nvPr/>
        </p:nvSpPr>
        <p:spPr>
          <a:xfrm>
            <a:off x="1751076" y="5166360"/>
            <a:ext cx="8686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trace ID across every agent</a:t>
            </a:r>
            <a:endParaRPr lang="en-US"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8DE08E9-D90A-7DA7-8F14-D25DE0362418}"/>
              </a:ext>
            </a:extLst>
          </p:cNvPr>
          <p:cNvSpPr/>
          <p:nvPr/>
        </p:nvSpPr>
        <p:spPr>
          <a:xfrm>
            <a:off x="6094476" y="1325880"/>
            <a:ext cx="9144" cy="2743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7A3032B-0303-7998-F6A2-8F14E123680C}"/>
              </a:ext>
            </a:extLst>
          </p:cNvPr>
          <p:cNvSpPr/>
          <p:nvPr/>
        </p:nvSpPr>
        <p:spPr>
          <a:xfrm>
            <a:off x="6094476" y="2148840"/>
            <a:ext cx="9144" cy="2743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6D20ACE-2A31-6F20-0B53-9CF188CD61F9}"/>
              </a:ext>
            </a:extLst>
          </p:cNvPr>
          <p:cNvSpPr/>
          <p:nvPr/>
        </p:nvSpPr>
        <p:spPr>
          <a:xfrm>
            <a:off x="6094476" y="2971800"/>
            <a:ext cx="9144" cy="2743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E05C820-4D57-136E-C399-FA350D1938DB}"/>
              </a:ext>
            </a:extLst>
          </p:cNvPr>
          <p:cNvSpPr/>
          <p:nvPr/>
        </p:nvSpPr>
        <p:spPr>
          <a:xfrm>
            <a:off x="6094476" y="3794760"/>
            <a:ext cx="9144" cy="32004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24E0EBD-20E7-73EB-BB33-6673048DF3CC}"/>
              </a:ext>
            </a:extLst>
          </p:cNvPr>
          <p:cNvSpPr/>
          <p:nvPr/>
        </p:nvSpPr>
        <p:spPr>
          <a:xfrm>
            <a:off x="3396996" y="4114800"/>
            <a:ext cx="321946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A705008-3F56-F76C-DCBC-3AD02E850BF7}"/>
              </a:ext>
            </a:extLst>
          </p:cNvPr>
          <p:cNvSpPr/>
          <p:nvPr/>
        </p:nvSpPr>
        <p:spPr>
          <a:xfrm>
            <a:off x="3396996" y="4114800"/>
            <a:ext cx="9144" cy="13716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53BEA0C-20EF-C473-A96F-60C64E99B2F1}"/>
              </a:ext>
            </a:extLst>
          </p:cNvPr>
          <p:cNvSpPr/>
          <p:nvPr/>
        </p:nvSpPr>
        <p:spPr>
          <a:xfrm>
            <a:off x="6594807" y="4114800"/>
            <a:ext cx="9144" cy="13716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F83E2F5-3B59-521D-7625-73FF0849D5FF}"/>
              </a:ext>
            </a:extLst>
          </p:cNvPr>
          <p:cNvSpPr/>
          <p:nvPr/>
        </p:nvSpPr>
        <p:spPr>
          <a:xfrm>
            <a:off x="10160967" y="3794760"/>
            <a:ext cx="9144" cy="3886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417FFCC-1A29-B958-176E-1B97B650421F}"/>
              </a:ext>
            </a:extLst>
          </p:cNvPr>
          <p:cNvSpPr/>
          <p:nvPr/>
        </p:nvSpPr>
        <p:spPr>
          <a:xfrm>
            <a:off x="3396996" y="4800600"/>
            <a:ext cx="9144" cy="365760"/>
          </a:xfrm>
          <a:prstGeom prst="line">
            <a:avLst/>
          </a:prstGeom>
          <a:noFill/>
          <a:ln w="15875">
            <a:solidFill>
              <a:srgbClr val="88878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A582C64-A6E7-AB84-1912-4BE99E815CD0}"/>
              </a:ext>
            </a:extLst>
          </p:cNvPr>
          <p:cNvSpPr/>
          <p:nvPr/>
        </p:nvSpPr>
        <p:spPr>
          <a:xfrm>
            <a:off x="6094476" y="4800600"/>
            <a:ext cx="9144" cy="365760"/>
          </a:xfrm>
          <a:prstGeom prst="line">
            <a:avLst/>
          </a:prstGeom>
          <a:noFill/>
          <a:ln w="15875">
            <a:solidFill>
              <a:srgbClr val="88878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9ED4B47-DD12-19E7-1649-F9EFF3D2525D}"/>
              </a:ext>
            </a:extLst>
          </p:cNvPr>
          <p:cNvSpPr/>
          <p:nvPr/>
        </p:nvSpPr>
        <p:spPr>
          <a:xfrm>
            <a:off x="10160967" y="4732020"/>
            <a:ext cx="9144" cy="365760"/>
          </a:xfrm>
          <a:prstGeom prst="line">
            <a:avLst/>
          </a:prstGeom>
          <a:noFill/>
          <a:ln w="15875">
            <a:solidFill>
              <a:srgbClr val="88878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BB4F0E-D668-1915-534B-18232D6449FA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BB510C-183C-F716-87D9-9D8CC7FA59B9}"/>
              </a:ext>
            </a:extLst>
          </p:cNvPr>
          <p:cNvSpPr txBox="1"/>
          <p:nvPr/>
        </p:nvSpPr>
        <p:spPr>
          <a:xfrm>
            <a:off x="411480" y="4013"/>
            <a:ext cx="4914422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Proposed Architecture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6CC3D-4532-DFF7-EFDD-33CE07B32754}"/>
              </a:ext>
            </a:extLst>
          </p:cNvPr>
          <p:cNvSpPr txBox="1"/>
          <p:nvPr/>
        </p:nvSpPr>
        <p:spPr>
          <a:xfrm>
            <a:off x="411480" y="384048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DCE9F7"/>
                </a:solidFill>
                <a:latin typeface="Aptos"/>
              </a:rPr>
              <a:t>Complete architecture • Production + Evaluation • Input → Processing → Output</a:t>
            </a:r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6B6D68BD-5CB2-6470-3C03-E97E224DA6BF}"/>
              </a:ext>
            </a:extLst>
          </p:cNvPr>
          <p:cNvSpPr/>
          <p:nvPr/>
        </p:nvSpPr>
        <p:spPr>
          <a:xfrm>
            <a:off x="9164271" y="32689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06475D2F-2122-54DA-0A91-E7FE54C41D96}"/>
              </a:ext>
            </a:extLst>
          </p:cNvPr>
          <p:cNvSpPr/>
          <p:nvPr/>
        </p:nvSpPr>
        <p:spPr>
          <a:xfrm>
            <a:off x="9164271" y="326898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CRM records from workflow 1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node</a:t>
            </a:r>
            <a:endParaRPr lang="en-US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ED8C3C-25CF-9552-B38F-F2F9492E3636}"/>
              </a:ext>
            </a:extLst>
          </p:cNvPr>
          <p:cNvSpPr/>
          <p:nvPr/>
        </p:nvSpPr>
        <p:spPr>
          <a:xfrm>
            <a:off x="2528316" y="770381"/>
            <a:ext cx="2377440" cy="6446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B9A656C-5F3C-958E-E0C9-6A8AE809CA41}"/>
              </a:ext>
            </a:extLst>
          </p:cNvPr>
          <p:cNvSpPr/>
          <p:nvPr/>
        </p:nvSpPr>
        <p:spPr>
          <a:xfrm>
            <a:off x="8972247" y="2060421"/>
            <a:ext cx="2377440" cy="9342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2</a:t>
            </a:r>
          </a:p>
        </p:txBody>
      </p:sp>
    </p:spTree>
    <p:extLst>
      <p:ext uri="{BB962C8B-B14F-4D97-AF65-F5344CB8AC3E}">
        <p14:creationId xmlns:p14="http://schemas.microsoft.com/office/powerpoint/2010/main" val="307888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CDF0B-B84D-EC1C-1C60-7461E174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29444F-D31E-BA1E-7DFF-BD273ADE5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44875"/>
              </p:ext>
            </p:extLst>
          </p:nvPr>
        </p:nvGraphicFramePr>
        <p:xfrm>
          <a:off x="263570" y="950977"/>
          <a:ext cx="7844513" cy="5196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7595">
                  <a:extLst>
                    <a:ext uri="{9D8B030D-6E8A-4147-A177-3AD203B41FA5}">
                      <a16:colId xmlns:a16="http://schemas.microsoft.com/office/drawing/2014/main" val="2761330068"/>
                    </a:ext>
                  </a:extLst>
                </a:gridCol>
                <a:gridCol w="1745289">
                  <a:extLst>
                    <a:ext uri="{9D8B030D-6E8A-4147-A177-3AD203B41FA5}">
                      <a16:colId xmlns:a16="http://schemas.microsoft.com/office/drawing/2014/main" val="3306855128"/>
                    </a:ext>
                  </a:extLst>
                </a:gridCol>
                <a:gridCol w="2119281">
                  <a:extLst>
                    <a:ext uri="{9D8B030D-6E8A-4147-A177-3AD203B41FA5}">
                      <a16:colId xmlns:a16="http://schemas.microsoft.com/office/drawing/2014/main" val="1326215669"/>
                    </a:ext>
                  </a:extLst>
                </a:gridCol>
                <a:gridCol w="3352348">
                  <a:extLst>
                    <a:ext uri="{9D8B030D-6E8A-4147-A177-3AD203B41FA5}">
                      <a16:colId xmlns:a16="http://schemas.microsoft.com/office/drawing/2014/main" val="3026512494"/>
                    </a:ext>
                  </a:extLst>
                </a:gridCol>
              </a:tblGrid>
              <a:tr h="212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#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Responsibility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2768575727"/>
                  </a:ext>
                </a:extLst>
              </a:tr>
              <a:tr h="889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Email Ingestion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Inquiry Understanding &amp; Extraction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Parses raw inquiry emails and extracts of customer name, email, product interest, budget and other relevant information present in the inquiry.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1183851926"/>
                  </a:ext>
                </a:extLst>
              </a:tr>
              <a:tr h="7129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Lead Qualifier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Lead Qualification &amp; Prioritization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Evaluates extracted customer signals and classifies leads as Hot, Warm or Cold using defined qualification criteria.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1291782392"/>
                  </a:ext>
                </a:extLst>
              </a:tr>
              <a:tr h="889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Product Recommender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Catalogue-Based Product Matching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Matches customer requirements to relevant Oak &amp; Ember catalogue items and provides a recommendation rationale grounded in catalogue data.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4248423362"/>
                  </a:ext>
                </a:extLst>
              </a:tr>
              <a:tr h="7129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Response Drafter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Personalized Customer Communication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Generates a personalized customer response using the qualified lead information and grounded product recommendations.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2361177146"/>
                  </a:ext>
                </a:extLst>
              </a:tr>
              <a:tr h="889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CRM Update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CRM Data Structuring &amp; Update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Converts qualified lead information into a standardized CRM-ready CSV for downstream CRM import, while preserving data accuracy and required field mappings.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3853829767"/>
                  </a:ext>
                </a:extLst>
              </a:tr>
              <a:tr h="8893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Weekly Sales Insight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Sales Reporting &amp; Insights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Aggregates processed leads and produces a structured weekly sales report containing metrics, lead distribution, product trends and other supported insights.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31" marR="6731" marT="6731" marB="6731" anchor="ctr"/>
                </a:tc>
                <a:extLst>
                  <a:ext uri="{0D108BD9-81ED-4DB2-BD59-A6C34878D82A}">
                    <a16:rowId xmlns:a16="http://schemas.microsoft.com/office/drawing/2014/main" val="318205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0F4B087-E3F9-6198-BADB-E821C4A2F81B}"/>
              </a:ext>
            </a:extLst>
          </p:cNvPr>
          <p:cNvSpPr txBox="1"/>
          <p:nvPr/>
        </p:nvSpPr>
        <p:spPr>
          <a:xfrm>
            <a:off x="8280613" y="1325507"/>
            <a:ext cx="4083916" cy="420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proposed architecture uses multiple specialized agents coordinated by an Orchestrator, with each agent responsible for a clearly defined business capability and structured input/output contract.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architecture includes 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six specialized agents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Orchestrator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manages the sequence and controls how outputs move between agents.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295E6-931C-1FC9-6596-05A733F328F6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2AB46-30CF-D222-B97A-639DE6F04297}"/>
              </a:ext>
            </a:extLst>
          </p:cNvPr>
          <p:cNvSpPr txBox="1"/>
          <p:nvPr/>
        </p:nvSpPr>
        <p:spPr>
          <a:xfrm>
            <a:off x="411480" y="4013"/>
            <a:ext cx="5798832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Architecture Decision Record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D27DD-580C-87AC-6944-05FEFA883F13}"/>
              </a:ext>
            </a:extLst>
          </p:cNvPr>
          <p:cNvSpPr txBox="1"/>
          <p:nvPr/>
        </p:nvSpPr>
        <p:spPr>
          <a:xfrm>
            <a:off x="411480" y="384048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DCE9F7"/>
                </a:solidFill>
                <a:latin typeface="Aptos"/>
              </a:rPr>
              <a:t>Complete architecture • Production + Evaluation • Input → Processing → Output</a:t>
            </a:r>
          </a:p>
        </p:txBody>
      </p:sp>
    </p:spTree>
    <p:extLst>
      <p:ext uri="{BB962C8B-B14F-4D97-AF65-F5344CB8AC3E}">
        <p14:creationId xmlns:p14="http://schemas.microsoft.com/office/powerpoint/2010/main" val="104213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556042-D49F-69A4-6165-D96200710EA8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29E4F-879E-89E6-BD10-765DF2297083}"/>
              </a:ext>
            </a:extLst>
          </p:cNvPr>
          <p:cNvSpPr txBox="1"/>
          <p:nvPr/>
        </p:nvSpPr>
        <p:spPr>
          <a:xfrm>
            <a:off x="411480" y="4013"/>
            <a:ext cx="5615255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Agent with Input and Output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CE48A-C217-2D25-0F26-A6E4DA54746F}"/>
              </a:ext>
            </a:extLst>
          </p:cNvPr>
          <p:cNvSpPr txBox="1"/>
          <p:nvPr/>
        </p:nvSpPr>
        <p:spPr>
          <a:xfrm>
            <a:off x="411480" y="384048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DCE9F7"/>
                </a:solidFill>
                <a:latin typeface="Aptos"/>
              </a:rPr>
              <a:t>Complete architecture • Production + Evaluation • Input → Processing → Output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D2FCCC-CE3B-B2AD-FD10-0C257BED2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19897"/>
              </p:ext>
            </p:extLst>
          </p:nvPr>
        </p:nvGraphicFramePr>
        <p:xfrm>
          <a:off x="1069675" y="992038"/>
          <a:ext cx="9721972" cy="51240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0493">
                  <a:extLst>
                    <a:ext uri="{9D8B030D-6E8A-4147-A177-3AD203B41FA5}">
                      <a16:colId xmlns:a16="http://schemas.microsoft.com/office/drawing/2014/main" val="3458285810"/>
                    </a:ext>
                  </a:extLst>
                </a:gridCol>
                <a:gridCol w="2430493">
                  <a:extLst>
                    <a:ext uri="{9D8B030D-6E8A-4147-A177-3AD203B41FA5}">
                      <a16:colId xmlns:a16="http://schemas.microsoft.com/office/drawing/2014/main" val="290886112"/>
                    </a:ext>
                  </a:extLst>
                </a:gridCol>
                <a:gridCol w="2430493">
                  <a:extLst>
                    <a:ext uri="{9D8B030D-6E8A-4147-A177-3AD203B41FA5}">
                      <a16:colId xmlns:a16="http://schemas.microsoft.com/office/drawing/2014/main" val="1022638566"/>
                    </a:ext>
                  </a:extLst>
                </a:gridCol>
                <a:gridCol w="2430493">
                  <a:extLst>
                    <a:ext uri="{9D8B030D-6E8A-4147-A177-3AD203B41FA5}">
                      <a16:colId xmlns:a16="http://schemas.microsoft.com/office/drawing/2014/main" val="2216261682"/>
                    </a:ext>
                  </a:extLst>
                </a:gridCol>
              </a:tblGrid>
              <a:tr h="5604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Input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Output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3837173"/>
                  </a:ext>
                </a:extLst>
              </a:tr>
              <a:tr h="10055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Email Ingestion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Inquiry understanding and extraction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Raw inbound email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Structured inquiry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0661674"/>
                  </a:ext>
                </a:extLst>
              </a:tr>
              <a:tr h="514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Lead Qualifier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Lead qualification and prioritization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Structured inquiry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Hot/Warm/Cold classification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2070066"/>
                  </a:ext>
                </a:extLst>
              </a:tr>
              <a:tr h="1007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Product Recommender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Catalogue-based product matching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Qualified lead + product catalogue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Product recommendations + rationale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73949"/>
                  </a:ext>
                </a:extLst>
              </a:tr>
              <a:tr h="1007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Response Drafter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Personalized customer communication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Qualified lead + recommendations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Customer response draft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0179791"/>
                  </a:ext>
                </a:extLst>
              </a:tr>
              <a:tr h="514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CRM Update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CRM data structuring and update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Qualified lead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CRM-ready CSV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0572778"/>
                  </a:ext>
                </a:extLst>
              </a:tr>
              <a:tr h="514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Weekly Sales Insight Agent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Sales reporting and insights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Processed lead data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Weekly sales report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586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17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B16B09-33D8-4C89-8DE4-F4D208B08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008410"/>
              </p:ext>
            </p:extLst>
          </p:nvPr>
        </p:nvGraphicFramePr>
        <p:xfrm>
          <a:off x="577970" y="2204228"/>
          <a:ext cx="8845430" cy="3916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9086">
                  <a:extLst>
                    <a:ext uri="{9D8B030D-6E8A-4147-A177-3AD203B41FA5}">
                      <a16:colId xmlns:a16="http://schemas.microsoft.com/office/drawing/2014/main" val="118112499"/>
                    </a:ext>
                  </a:extLst>
                </a:gridCol>
                <a:gridCol w="7076344">
                  <a:extLst>
                    <a:ext uri="{9D8B030D-6E8A-4147-A177-3AD203B41FA5}">
                      <a16:colId xmlns:a16="http://schemas.microsoft.com/office/drawing/2014/main" val="3613791942"/>
                    </a:ext>
                  </a:extLst>
                </a:gridCol>
              </a:tblGrid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Consideration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Multi-Agent Approach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3913422"/>
                  </a:ext>
                </a:extLst>
              </a:tr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Responsibility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Each agent has a focused business capability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999517"/>
                  </a:ext>
                </a:extLst>
              </a:tr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Grounding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Agents can use the appropriate source of truth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9491423"/>
                  </a:ext>
                </a:extLst>
              </a:tr>
              <a:tr h="6469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Evaluation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Each capability can have its own evaluation metrics and ground truth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4210437"/>
                  </a:ext>
                </a:extLst>
              </a:tr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Failure isolation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Errors can be traced to a specific processing stage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121502"/>
                  </a:ext>
                </a:extLst>
              </a:tr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Guardrails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Controls can be defined for individual capabilities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6734153"/>
                  </a:ext>
                </a:extLst>
              </a:tr>
              <a:tr h="32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Observability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Individual agent execution can be traced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3141919"/>
                  </a:ext>
                </a:extLst>
              </a:tr>
              <a:tr h="6469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Experimentation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 single agent can be modified without changing the entire workflow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6786378"/>
                  </a:ext>
                </a:extLst>
              </a:tr>
              <a:tr h="6469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Maintainability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New capabilities can be added without continually expanding one large prompt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44294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B6B7A2E-E855-95E1-AD5B-649A468D1006}"/>
              </a:ext>
            </a:extLst>
          </p:cNvPr>
          <p:cNvSpPr txBox="1"/>
          <p:nvPr/>
        </p:nvSpPr>
        <p:spPr>
          <a:xfrm>
            <a:off x="577970" y="658368"/>
            <a:ext cx="11283351" cy="1586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single LLM agent could theoretically perform all </a:t>
            </a:r>
            <a:r>
              <a:rPr lang="en-US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SalesGenie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capabilities. However, a multi-agent architecture was selected because the capabilities have different responsibilities, data sources, grounding requirements and failure modes.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multi-agent design therefore provides a better structure for </a:t>
            </a: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evaluating and improving AI behavior at each stage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which is particularly important for </a:t>
            </a:r>
            <a:r>
              <a:rPr lang="en-US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SalesGenie's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catalogue-grounding, lead-classification and CRM-data-accuracy requirements.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06EAC-2D5E-0D36-C56B-F1DF9AAB1CB9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BE31B-51B8-C042-AB98-4F7CA743898A}"/>
              </a:ext>
            </a:extLst>
          </p:cNvPr>
          <p:cNvSpPr txBox="1"/>
          <p:nvPr/>
        </p:nvSpPr>
        <p:spPr>
          <a:xfrm>
            <a:off x="411480" y="-330529"/>
            <a:ext cx="8845430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lang="en-US" sz="2200" b="1" dirty="0">
              <a:solidFill>
                <a:srgbClr val="FFFFFF"/>
              </a:solidFill>
              <a:latin typeface="Aptos"/>
            </a:endParaRPr>
          </a:p>
          <a:p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Multi-Agent Instead of a Single Agent?</a:t>
            </a:r>
          </a:p>
          <a:p>
            <a:endParaRPr sz="22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3785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23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SalesGenie — Workflow 1 lead 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463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architecture · Production + evaluation · Input → agent →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10328" y="896112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0056" y="896112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 email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node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9048" y="1261872"/>
            <a:ext cx="914" cy="91440"/>
          </a:xfrm>
          <a:prstGeom prst="line">
            <a:avLst/>
          </a:prstGeom>
          <a:noFill/>
          <a:ln w="12700">
            <a:solidFill>
              <a:srgbClr val="9C9A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18488" y="135331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28216" y="13533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inbound 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21608" y="1353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95928" y="135331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05656" y="13533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lead 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02168" y="1353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76488" y="135331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86216" y="13533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inquiry — name, email, interest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9048" y="1856232"/>
            <a:ext cx="914" cy="91440"/>
          </a:xfrm>
          <a:prstGeom prst="line">
            <a:avLst/>
          </a:prstGeom>
          <a:noFill/>
          <a:ln w="12700">
            <a:solidFill>
              <a:srgbClr val="9C9A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18488" y="194767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28216" y="194767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inquiry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1608" y="194767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95928" y="194767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05656" y="194767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qualifier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lead quality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02168" y="194767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76488" y="194767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86216" y="194767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/ warm / cold classification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9048" y="2450592"/>
            <a:ext cx="914" cy="91440"/>
          </a:xfrm>
          <a:prstGeom prst="line">
            <a:avLst/>
          </a:prstGeom>
          <a:noFill/>
          <a:ln w="12700">
            <a:solidFill>
              <a:srgbClr val="9C9A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18488" y="254203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28216" y="254203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 + catalogue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254203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995928" y="254203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05656" y="254203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recommender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products from catalogue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02168" y="254203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76488" y="254203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86216" y="254203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+ rationale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99048" y="3044952"/>
            <a:ext cx="914" cy="91440"/>
          </a:xfrm>
          <a:prstGeom prst="line">
            <a:avLst/>
          </a:prstGeom>
          <a:noFill/>
          <a:ln w="12700">
            <a:solidFill>
              <a:srgbClr val="9C9A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618488" y="313639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728216" y="313639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 + recommendations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21608" y="31363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313639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05656" y="313639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drafter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personalized reply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02168" y="31363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476488" y="313639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86216" y="313639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sent for rep review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18488" y="3886200"/>
            <a:ext cx="2103120" cy="914"/>
          </a:xfrm>
          <a:prstGeom prst="line">
            <a:avLst/>
          </a:prstGeom>
          <a:noFill/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476488" y="3886200"/>
            <a:ext cx="2103120" cy="914"/>
          </a:xfrm>
          <a:prstGeom prst="line">
            <a:avLst/>
          </a:prstGeom>
          <a:noFill/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18488" y="3785616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branch — runs off lead qualifier output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18488" y="4114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28216" y="41148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21608" y="4114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995928" y="411480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05656" y="411480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update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data for CRM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87568" y="3995928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87568" y="39959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202168" y="4114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476488" y="4114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586216" y="41148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CRM-ready CSV — daily batch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618488" y="4764024"/>
            <a:ext cx="89611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728216" y="4764024"/>
            <a:ext cx="8741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tracing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trace ID across every agent — every run, every stage</a:t>
            </a:r>
            <a:endParaRPr lang="en-US" sz="1100" dirty="0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C4C0313A-13F7-6935-72FA-636B0D712438}"/>
              </a:ext>
            </a:extLst>
          </p:cNvPr>
          <p:cNvSpPr/>
          <p:nvPr/>
        </p:nvSpPr>
        <p:spPr>
          <a:xfrm>
            <a:off x="1572768" y="5434009"/>
            <a:ext cx="89611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5">
            <a:extLst>
              <a:ext uri="{FF2B5EF4-FFF2-40B4-BE49-F238E27FC236}">
                <a16:creationId xmlns:a16="http://schemas.microsoft.com/office/drawing/2014/main" id="{04BD3454-870F-1763-2257-F5407BE22CB7}"/>
              </a:ext>
            </a:extLst>
          </p:cNvPr>
          <p:cNvSpPr/>
          <p:nvPr/>
        </p:nvSpPr>
        <p:spPr>
          <a:xfrm>
            <a:off x="1682496" y="5434009"/>
            <a:ext cx="8741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: n8n Evals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across every agent — every run, every stage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Weekly Sales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DCE9F7"/>
                </a:solidFill>
                <a:latin typeface="Aptos"/>
              </a:rPr>
              <a:t>Complete architecture • Production + Evaluation • Input → Processing →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41248"/>
            <a:ext cx="5440680" cy="1024128"/>
          </a:xfrm>
          <a:prstGeom prst="roundRect">
            <a:avLst/>
          </a:prstGeom>
          <a:solidFill>
            <a:srgbClr val="E9F8F7"/>
          </a:solidFill>
          <a:ln w="12700">
            <a:solidFill>
              <a:srgbClr val="23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" y="960120"/>
            <a:ext cx="1417320" cy="237744"/>
          </a:xfrm>
          <a:prstGeom prst="roundRect">
            <a:avLst/>
          </a:prstGeom>
          <a:solidFill>
            <a:srgbClr val="23918E"/>
          </a:solidFill>
          <a:ln w="12700">
            <a:solidFill>
              <a:srgbClr val="23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960120"/>
            <a:ext cx="14173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PRODUCTION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261872"/>
            <a:ext cx="48920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1375C"/>
                </a:solidFill>
                <a:latin typeface="Aptos"/>
              </a:rPr>
              <a:t>Google Sheets —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49834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  <a:latin typeface="Aptos"/>
              </a:rPr>
              <a:t>All processed leads • created_at • tier • product • budget • status • urgency • customer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841248"/>
            <a:ext cx="5879592" cy="1024128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44768" y="960120"/>
            <a:ext cx="1417320" cy="237744"/>
          </a:xfrm>
          <a:prstGeom prst="roundRect">
            <a:avLst/>
          </a:prstGeom>
          <a:solidFill>
            <a:srgbClr val="674EA7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960120"/>
            <a:ext cx="14173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EVALUATION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261872"/>
            <a:ext cx="52120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1375C"/>
                </a:solidFill>
                <a:latin typeface="Aptos"/>
              </a:rPr>
              <a:t>Custom Evaluation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517904"/>
            <a:ext cx="53492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 dirty="0" err="1">
                <a:solidFill>
                  <a:srgbClr val="5A646E"/>
                </a:solidFill>
                <a:latin typeface="Aptos"/>
              </a:rPr>
              <a:t>test_id</a:t>
            </a:r>
            <a:r>
              <a:rPr sz="800" b="0" dirty="0">
                <a:solidFill>
                  <a:srgbClr val="5A646E"/>
                </a:solidFill>
                <a:latin typeface="Aptos"/>
              </a:rPr>
              <a:t> • </a:t>
            </a:r>
            <a:r>
              <a:rPr sz="800" b="0" dirty="0" err="1">
                <a:solidFill>
                  <a:srgbClr val="5A646E"/>
                </a:solidFill>
                <a:latin typeface="Aptos"/>
              </a:rPr>
              <a:t>test_name</a:t>
            </a:r>
            <a:r>
              <a:rPr sz="800" b="0" dirty="0">
                <a:solidFill>
                  <a:srgbClr val="5A646E"/>
                </a:solidFill>
                <a:latin typeface="Aptos"/>
              </a:rPr>
              <a:t> / scenario • expected metrics • one dataset row drives one evaluation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057400"/>
            <a:ext cx="11548872" cy="239572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139696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dirty="0">
                <a:solidFill>
                  <a:srgbClr val="11375C"/>
                </a:solidFill>
                <a:latin typeface="Aptos"/>
              </a:rPr>
              <a:t>WEEKLY INSIGHT GENERATION &amp;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4360" y="2587752"/>
            <a:ext cx="310896" cy="310896"/>
          </a:xfrm>
          <a:prstGeom prst="ellipse">
            <a:avLst/>
          </a:prstGeom>
          <a:solidFill>
            <a:srgbClr val="674EA7"/>
          </a:solidFill>
          <a:ln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" y="2922764"/>
            <a:ext cx="830677" cy="226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869" b="1" dirty="0">
                <a:solidFill>
                  <a:srgbClr val="11375C"/>
                </a:solidFill>
                <a:latin typeface="Aptos"/>
              </a:rPr>
              <a:t>START NODE</a:t>
            </a:r>
            <a:endParaRPr sz="869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" y="3084714"/>
            <a:ext cx="943456" cy="9171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670" b="0" dirty="0">
                <a:solidFill>
                  <a:srgbClr val="5A646E"/>
                </a:solidFill>
                <a:latin typeface="Aptos"/>
              </a:rPr>
              <a:t>Two Execution Nodes</a:t>
            </a:r>
          </a:p>
          <a:p>
            <a:pPr marL="228600" indent="-228600" algn="l">
              <a:buAutoNum type="arabicPeriod"/>
            </a:pPr>
            <a:r>
              <a:rPr lang="en-US" sz="670" dirty="0">
                <a:solidFill>
                  <a:srgbClr val="5A646E"/>
                </a:solidFill>
                <a:latin typeface="Aptos"/>
              </a:rPr>
              <a:t>EXECUTE WORKFLOW(Trigger Weekly)</a:t>
            </a:r>
          </a:p>
          <a:p>
            <a:pPr marL="228600" indent="-228600" algn="l">
              <a:buAutoNum type="arabicPeriod"/>
            </a:pPr>
            <a:r>
              <a:rPr lang="en-US" sz="670" dirty="0">
                <a:solidFill>
                  <a:srgbClr val="5A646E"/>
                </a:solidFill>
                <a:latin typeface="Aptos"/>
              </a:rPr>
              <a:t>EVALS – Fetching a dataset</a:t>
            </a:r>
            <a:endParaRPr sz="670" b="0" dirty="0">
              <a:solidFill>
                <a:srgbClr val="5A646E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618488" y="3291840"/>
            <a:ext cx="256031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74519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965960" y="2587752"/>
            <a:ext cx="310896" cy="310896"/>
          </a:xfrm>
          <a:prstGeom prst="ellipse">
            <a:avLst/>
          </a:prstGeom>
          <a:solidFill>
            <a:srgbClr val="23918E"/>
          </a:solidFill>
          <a:ln>
            <a:solidFill>
              <a:srgbClr val="23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2871216"/>
            <a:ext cx="5760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 dirty="0">
                <a:solidFill>
                  <a:srgbClr val="11375C"/>
                </a:solidFill>
                <a:latin typeface="Aptos"/>
              </a:rPr>
              <a:t>Get CRM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226915"/>
            <a:ext cx="968535" cy="5047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Input: </a:t>
            </a:r>
            <a:r>
              <a:rPr lang="en-US" sz="670" b="0" dirty="0">
                <a:solidFill>
                  <a:srgbClr val="5A646E"/>
                </a:solidFill>
                <a:latin typeface="Aptos"/>
              </a:rPr>
              <a:t>Output </a:t>
            </a:r>
          </a:p>
          <a:p>
            <a:pPr algn="l"/>
            <a:r>
              <a:rPr lang="en-US" sz="670" b="0" dirty="0">
                <a:solidFill>
                  <a:srgbClr val="5A646E"/>
                </a:solidFill>
                <a:latin typeface="Aptos"/>
              </a:rPr>
              <a:t>CRM from workflow1</a:t>
            </a:r>
            <a:r>
              <a:rPr sz="670" b="0" dirty="0">
                <a:solidFill>
                  <a:srgbClr val="5A646E"/>
                </a:solidFill>
                <a:latin typeface="Aptos"/>
              </a:rPr>
              <a:t>
</a:t>
            </a:r>
            <a:endParaRPr lang="en-US" sz="670" b="0" dirty="0">
              <a:solidFill>
                <a:srgbClr val="5A646E"/>
              </a:solidFill>
              <a:latin typeface="Aptos"/>
            </a:endParaRPr>
          </a:p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Output: </a:t>
            </a:r>
            <a:r>
              <a:rPr lang="en-US" sz="670" b="0" dirty="0">
                <a:solidFill>
                  <a:srgbClr val="5A646E"/>
                </a:solidFill>
                <a:latin typeface="Aptos"/>
              </a:rPr>
              <a:t>CRM records</a:t>
            </a:r>
            <a:endParaRPr sz="670" b="0" dirty="0">
              <a:solidFill>
                <a:srgbClr val="5A646E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990087" y="3291840"/>
            <a:ext cx="256033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461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37560" y="2587752"/>
            <a:ext cx="310896" cy="310896"/>
          </a:xfrm>
          <a:prstGeom prst="ellipse">
            <a:avLst/>
          </a:prstGeom>
          <a:solidFill>
            <a:srgbClr val="2C70BE"/>
          </a:solidFill>
          <a:ln>
            <a:solidFill>
              <a:srgbClr val="2C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7" y="2919895"/>
            <a:ext cx="984810" cy="3598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1" dirty="0">
                <a:solidFill>
                  <a:srgbClr val="11375C"/>
                </a:solidFill>
                <a:latin typeface="Aptos"/>
              </a:rPr>
              <a:t>Filter Week</a:t>
            </a:r>
            <a:r>
              <a:rPr lang="en-US" sz="869" b="1" dirty="0">
                <a:solidFill>
                  <a:srgbClr val="11375C"/>
                </a:solidFill>
                <a:latin typeface="Aptos"/>
              </a:rPr>
              <a:t>ly Records</a:t>
            </a:r>
            <a:endParaRPr sz="869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16209" y="3392012"/>
            <a:ext cx="1045479" cy="401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Input: records + scope</a:t>
            </a:r>
            <a:endParaRPr lang="en-US" sz="670" b="0" dirty="0">
              <a:solidFill>
                <a:srgbClr val="5A646E"/>
              </a:solidFill>
              <a:latin typeface="Aptos"/>
            </a:endParaRPr>
          </a:p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
Output: weekly records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61688" y="3291840"/>
            <a:ext cx="256032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177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09159" y="2587752"/>
            <a:ext cx="310896" cy="310896"/>
          </a:xfrm>
          <a:prstGeom prst="ellipse">
            <a:avLst/>
          </a:prstGeom>
          <a:solidFill>
            <a:srgbClr val="2C70BE"/>
          </a:solidFill>
          <a:ln>
            <a:solidFill>
              <a:srgbClr val="2C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59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6571" y="2871216"/>
            <a:ext cx="5760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 dirty="0">
                <a:solidFill>
                  <a:srgbClr val="11375C"/>
                </a:solidFill>
                <a:latin typeface="Aptos"/>
              </a:rPr>
              <a:t>Aggregate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7" y="3229503"/>
            <a:ext cx="850391" cy="8140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Input: filtered records</a:t>
            </a:r>
            <a:endParaRPr lang="en-US" sz="670" b="0" dirty="0">
              <a:solidFill>
                <a:srgbClr val="5A646E"/>
              </a:solidFill>
              <a:latin typeface="Aptos"/>
            </a:endParaRPr>
          </a:p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
Output: lead counts, products,
opportunities, data quality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33288" y="3291840"/>
            <a:ext cx="256032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893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59" y="2587752"/>
            <a:ext cx="310896" cy="310896"/>
          </a:xfrm>
          <a:prstGeom prst="ellipse">
            <a:avLst/>
          </a:prstGeom>
          <a:solidFill>
            <a:srgbClr val="379152"/>
          </a:solidFill>
          <a:ln>
            <a:solidFill>
              <a:srgbClr val="37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59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39" y="2892463"/>
            <a:ext cx="859537" cy="3598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69" b="1" dirty="0">
                <a:solidFill>
                  <a:srgbClr val="11375C"/>
                </a:solidFill>
                <a:latin typeface="Aptos"/>
              </a:rPr>
              <a:t>Weekly Sales Insight Agent</a:t>
            </a:r>
            <a:endParaRPr sz="869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35039" y="3255264"/>
            <a:ext cx="1024129" cy="6078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Input: aggregated metrics</a:t>
            </a:r>
            <a:endParaRPr lang="en-US" sz="670" b="0" dirty="0">
              <a:solidFill>
                <a:srgbClr val="5A646E"/>
              </a:solidFill>
              <a:latin typeface="Aptos"/>
            </a:endParaRPr>
          </a:p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
Output: weekly sales
insights report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04888" y="3291840"/>
            <a:ext cx="256032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609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452360" y="2587752"/>
            <a:ext cx="310896" cy="310896"/>
          </a:xfrm>
          <a:prstGeom prst="ellipse">
            <a:avLst/>
          </a:prstGeom>
          <a:solidFill>
            <a:srgbClr val="DC842F"/>
          </a:solidFill>
          <a:ln>
            <a:solidFill>
              <a:srgbClr val="DC8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523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97496" y="2898648"/>
            <a:ext cx="5760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 dirty="0">
                <a:solidFill>
                  <a:srgbClr val="11375C"/>
                </a:solidFill>
                <a:latin typeface="Aptos"/>
              </a:rPr>
              <a:t>LLM as Judge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6076" y="3168935"/>
            <a:ext cx="832104" cy="9171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Input: source metrics + AI report</a:t>
            </a:r>
            <a:endParaRPr lang="en-US" sz="670" b="0" dirty="0">
              <a:solidFill>
                <a:srgbClr val="5A646E"/>
              </a:solidFill>
              <a:latin typeface="Aptos"/>
            </a:endParaRPr>
          </a:p>
          <a:p>
            <a:pPr algn="l"/>
            <a:r>
              <a:rPr sz="670" b="0" dirty="0">
                <a:solidFill>
                  <a:srgbClr val="5A646E"/>
                </a:solidFill>
                <a:latin typeface="Aptos"/>
              </a:rPr>
              <a:t>
Output: </a:t>
            </a:r>
            <a:r>
              <a:rPr sz="670" b="0" dirty="0" err="1">
                <a:solidFill>
                  <a:srgbClr val="5A646E"/>
                </a:solidFill>
                <a:latin typeface="Aptos"/>
              </a:rPr>
              <a:t>groundedness</a:t>
            </a:r>
            <a:r>
              <a:rPr sz="670" b="0" dirty="0">
                <a:solidFill>
                  <a:srgbClr val="5A646E"/>
                </a:solidFill>
                <a:latin typeface="Aptos"/>
              </a:rPr>
              <a:t>,
insight, trend, hallucination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76488" y="3291840"/>
            <a:ext cx="256032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7325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823960" y="2587752"/>
            <a:ext cx="310896" cy="310896"/>
          </a:xfrm>
          <a:prstGeom prst="ellipse">
            <a:avLst/>
          </a:prstGeom>
          <a:solidFill>
            <a:srgbClr val="674EA7"/>
          </a:solidFill>
          <a:ln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239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898648"/>
            <a:ext cx="5760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 dirty="0">
                <a:solidFill>
                  <a:srgbClr val="11375C"/>
                </a:solidFill>
                <a:latin typeface="Aptos"/>
              </a:rPr>
              <a:t>Set Metrics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14816" y="3272040"/>
            <a:ext cx="813816" cy="710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670" b="0" dirty="0">
                <a:solidFill>
                  <a:srgbClr val="5A646E"/>
                </a:solidFill>
                <a:latin typeface="Aptos"/>
              </a:rPr>
              <a:t>Input: judge JSON</a:t>
            </a:r>
            <a:r>
              <a:rPr lang="en-US" sz="670" b="0" dirty="0">
                <a:solidFill>
                  <a:srgbClr val="5A646E"/>
                </a:solidFill>
                <a:latin typeface="Aptos"/>
              </a:rPr>
              <a:t> </a:t>
            </a:r>
          </a:p>
          <a:p>
            <a:r>
              <a:rPr sz="670" b="0" dirty="0">
                <a:solidFill>
                  <a:srgbClr val="5A646E"/>
                </a:solidFill>
                <a:latin typeface="Aptos"/>
              </a:rPr>
              <a:t>
Output: evaluation metrics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848088" y="3291840"/>
            <a:ext cx="256032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0104120" y="2468880"/>
            <a:ext cx="1115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195560" y="2587752"/>
            <a:ext cx="310896" cy="310896"/>
          </a:xfrm>
          <a:prstGeom prst="ellipse">
            <a:avLst/>
          </a:prstGeom>
          <a:solidFill>
            <a:srgbClr val="11375C"/>
          </a:solidFill>
          <a:ln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195560" y="258775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0696" y="2935224"/>
            <a:ext cx="5760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11375C"/>
                </a:solidFill>
                <a:latin typeface="Aptos"/>
              </a:rPr>
              <a:t>Final Result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5560" y="2999232"/>
            <a:ext cx="932688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5A646E"/>
                </a:solidFill>
                <a:latin typeface="Aptos"/>
              </a:rPr>
              <a:t>PASS / FAIL
Score per testcase
Evaluation Matrix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4178808"/>
            <a:ext cx="1508760" cy="210312"/>
          </a:xfrm>
          <a:prstGeom prst="roundRect">
            <a:avLst/>
          </a:prstGeom>
          <a:solidFill>
            <a:srgbClr val="674EA7"/>
          </a:solidFill>
          <a:ln w="127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" y="4178808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ONE ROW → ONE RUN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0040" y="4645152"/>
            <a:ext cx="3703320" cy="1417320"/>
          </a:xfrm>
          <a:prstGeom prst="roundRect">
            <a:avLst/>
          </a:prstGeom>
          <a:solidFill>
            <a:srgbClr val="EBF7EE"/>
          </a:solidFill>
          <a:ln w="12700">
            <a:solidFill>
              <a:srgbClr val="37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75488" y="4773168"/>
            <a:ext cx="1234440" cy="228600"/>
          </a:xfrm>
          <a:prstGeom prst="roundRect">
            <a:avLst/>
          </a:prstGeom>
          <a:solidFill>
            <a:srgbClr val="379152"/>
          </a:solidFill>
          <a:ln w="12700">
            <a:solidFill>
              <a:srgbClr val="37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75488" y="4773168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AI 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" y="5084064"/>
            <a:ext cx="339242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1375C"/>
                </a:solidFill>
                <a:latin typeface="Aptos"/>
              </a:rPr>
              <a:t>Weekly Sales Insights Report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" y="5358384"/>
            <a:ext cx="339242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5A646E"/>
                </a:solidFill>
                <a:latin typeface="Aptos"/>
              </a:rPr>
              <a:t>Executive summary • lead/product observations
High-value opportunities • follow-up priorities • actions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60520" y="4645152"/>
            <a:ext cx="3703320" cy="1417320"/>
          </a:xfrm>
          <a:prstGeom prst="roundRect">
            <a:avLst/>
          </a:prstGeom>
          <a:solidFill>
            <a:srgbClr val="FCF4E8"/>
          </a:solidFill>
          <a:ln w="12700">
            <a:solidFill>
              <a:srgbClr val="DC8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4315968" y="4773168"/>
            <a:ext cx="1234440" cy="228600"/>
          </a:xfrm>
          <a:prstGeom prst="roundRect">
            <a:avLst/>
          </a:prstGeom>
          <a:solidFill>
            <a:srgbClr val="DC842F"/>
          </a:solidFill>
          <a:ln w="12700">
            <a:solidFill>
              <a:srgbClr val="DC8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15968" y="4773168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JUDGE OUTPUT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15968" y="5084064"/>
            <a:ext cx="339242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1375C"/>
                </a:solidFill>
                <a:latin typeface="Aptos"/>
              </a:rPr>
              <a:t>Structured Evaluation JSON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5968" y="5358384"/>
            <a:ext cx="339242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5A646E"/>
                </a:solidFill>
                <a:latin typeface="Aptos"/>
              </a:rPr>
              <a:t>Groundedness • Insight Quality • Trend Quality
Overall Score • Hallucination YES/NO • PASS/FAIL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01000" y="4645152"/>
            <a:ext cx="3867912" cy="1417320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2C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156448" y="4773168"/>
            <a:ext cx="1234440" cy="228600"/>
          </a:xfrm>
          <a:prstGeom prst="roundRect">
            <a:avLst/>
          </a:prstGeom>
          <a:solidFill>
            <a:srgbClr val="2C70BE"/>
          </a:solidFill>
          <a:ln w="12700">
            <a:solidFill>
              <a:srgbClr val="2C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56448" y="4773168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OBSERVABILITY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56448" y="5084064"/>
            <a:ext cx="35570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1375C"/>
                </a:solidFill>
                <a:latin typeface="Aptos"/>
              </a:rPr>
              <a:t>Evaluation Matrix + Trace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56448" y="5358384"/>
            <a:ext cx="355701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5A646E"/>
                </a:solidFill>
                <a:latin typeface="Aptos"/>
              </a:rPr>
              <a:t>Per-testcase scores recorded in n8n
Trace: input → aggregation → agent → judge → metrics</a:t>
            </a:r>
          </a:p>
        </p:txBody>
      </p:sp>
      <p:cxnSp>
        <p:nvCxnSpPr>
          <p:cNvPr id="82" name="Connector 81"/>
          <p:cNvCxnSpPr>
            <a:cxnSpLocks/>
          </p:cNvCxnSpPr>
          <p:nvPr/>
        </p:nvCxnSpPr>
        <p:spPr>
          <a:xfrm>
            <a:off x="3017520" y="1865376"/>
            <a:ext cx="0" cy="274320"/>
          </a:xfrm>
          <a:prstGeom prst="line">
            <a:avLst/>
          </a:prstGeom>
          <a:ln w="19050">
            <a:solidFill>
              <a:srgbClr val="23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cxnSpLocks/>
          </p:cNvCxnSpPr>
          <p:nvPr/>
        </p:nvCxnSpPr>
        <p:spPr>
          <a:xfrm>
            <a:off x="8732520" y="1865376"/>
            <a:ext cx="0" cy="274320"/>
          </a:xfrm>
          <a:prstGeom prst="line">
            <a:avLst/>
          </a:prstGeom>
          <a:ln w="19050">
            <a:solidFill>
              <a:srgbClr val="674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320040" y="6236208"/>
            <a:ext cx="11548872" cy="384048"/>
          </a:xfrm>
          <a:prstGeom prst="round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6254496"/>
            <a:ext cx="11155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Each evaluation dataset row  →  one workflow execution  →  one report  →  one judge result  →  one Evaluation Matrix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C2E2-7AC4-A242-327E-61AA10C6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9F9845-F699-87E2-BAAB-E49B275C486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28A6D-D645-08C7-5A33-1BADE30FA874}"/>
              </a:ext>
            </a:extLst>
          </p:cNvPr>
          <p:cNvSpPr txBox="1"/>
          <p:nvPr/>
        </p:nvSpPr>
        <p:spPr>
          <a:xfrm>
            <a:off x="411480" y="4013"/>
            <a:ext cx="5747984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 Tools and Technologize Used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EBEDC8-FB31-1A0E-B6B0-A2D6FF127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665587"/>
              </p:ext>
            </p:extLst>
          </p:nvPr>
        </p:nvGraphicFramePr>
        <p:xfrm>
          <a:off x="696464" y="1587014"/>
          <a:ext cx="9111770" cy="3399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5890">
                  <a:extLst>
                    <a:ext uri="{9D8B030D-6E8A-4147-A177-3AD203B41FA5}">
                      <a16:colId xmlns:a16="http://schemas.microsoft.com/office/drawing/2014/main" val="3682020131"/>
                    </a:ext>
                  </a:extLst>
                </a:gridCol>
                <a:gridCol w="3039990">
                  <a:extLst>
                    <a:ext uri="{9D8B030D-6E8A-4147-A177-3AD203B41FA5}">
                      <a16:colId xmlns:a16="http://schemas.microsoft.com/office/drawing/2014/main" val="1733112993"/>
                    </a:ext>
                  </a:extLst>
                </a:gridCol>
                <a:gridCol w="3035890">
                  <a:extLst>
                    <a:ext uri="{9D8B030D-6E8A-4147-A177-3AD203B41FA5}">
                      <a16:colId xmlns:a16="http://schemas.microsoft.com/office/drawing/2014/main" val="3616523853"/>
                    </a:ext>
                  </a:extLst>
                </a:gridCol>
              </a:tblGrid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Tools and Technologies Category 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What You Need 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Examples (not exhaustive) 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410734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Workflow/Agent Platform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Low-code or no-code platform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n8n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722251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LLM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Reasoning, classification, generation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OpenAI  gpt-4o-mini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283071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Data Ingestion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Read/parse emails, CSVs  used pinecone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Built-in nodes, HTTP Request, code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009972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Observability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Monitor traces, track quality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Langfuse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69059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Output/Integration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Google sheet, email, reporting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Google Sheets, CSV , Vector DB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14056"/>
                  </a:ext>
                </a:extLst>
              </a:tr>
              <a:tr h="4855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Evaluation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Run → Score → Learn → Change → Re-score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N8N evaluation trace and metrics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89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51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E8E0C2-E08C-C65A-3368-0AF243AE14F2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6ABB2-B349-8BC4-70C1-8C74769415D9}"/>
              </a:ext>
            </a:extLst>
          </p:cNvPr>
          <p:cNvSpPr txBox="1"/>
          <p:nvPr/>
        </p:nvSpPr>
        <p:spPr>
          <a:xfrm>
            <a:off x="411480" y="4013"/>
            <a:ext cx="498944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 Workflow 1 Evaluation 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CCBE1-E7C6-9E30-F7F8-2C78C4361F63}"/>
              </a:ext>
            </a:extLst>
          </p:cNvPr>
          <p:cNvSpPr txBox="1"/>
          <p:nvPr/>
        </p:nvSpPr>
        <p:spPr>
          <a:xfrm>
            <a:off x="411480" y="843052"/>
            <a:ext cx="923285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Using n8n evaluation used code-based validation + LLM as Judge for evaluation</a:t>
            </a:r>
            <a:endParaRPr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5E5FAE-72DC-3316-9D83-F1CE7B34E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3" y="1338913"/>
            <a:ext cx="8813375" cy="48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C80C-527E-75B8-8790-37D51134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7EC1EF-9FC9-4A36-DDE5-FD63DBD24DFD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421D4-5EE0-2F2C-1F30-0F8E8737C390}"/>
              </a:ext>
            </a:extLst>
          </p:cNvPr>
          <p:cNvSpPr txBox="1"/>
          <p:nvPr/>
        </p:nvSpPr>
        <p:spPr>
          <a:xfrm>
            <a:off x="411480" y="4013"/>
            <a:ext cx="498944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 Workflow 2 Evaluation 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822CC-2671-AE81-2991-39C4D8861C76}"/>
              </a:ext>
            </a:extLst>
          </p:cNvPr>
          <p:cNvSpPr txBox="1"/>
          <p:nvPr/>
        </p:nvSpPr>
        <p:spPr>
          <a:xfrm>
            <a:off x="411480" y="843052"/>
            <a:ext cx="923285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Using n8n evaluation used code-based validation + LLM as Judge for evaluation</a:t>
            </a:r>
            <a:endParaRPr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CF01F-5EE0-C3C4-8DC0-4350CE907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5" y="1322724"/>
            <a:ext cx="8378741" cy="502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0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D6F08-A630-87A6-619C-928231F950D2}"/>
              </a:ext>
            </a:extLst>
          </p:cNvPr>
          <p:cNvSpPr txBox="1"/>
          <p:nvPr/>
        </p:nvSpPr>
        <p:spPr>
          <a:xfrm>
            <a:off x="411480" y="973724"/>
            <a:ext cx="1069675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From Manual Lead Handling → Intelligent, Measurable Sales Operations</a:t>
            </a:r>
          </a:p>
          <a:p>
            <a:pPr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SalesGenie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delivers business value across the entire lead lifecycle: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Save Time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2–3 hours/day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reps spend on manual email processing, qualification and CRM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Improve Sales Effectiveness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Consistent lead qualification + catalog-grounded recommendations help reps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focus on the highest-priority opportunities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Improve Data Quality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Automated extraction and CRM structuring reduce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missing fields, manual errors and inconsistent records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Accelerate Follow-up-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Faster response drafting and CRM updates enable reps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 on qualified leads sooner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Enable Data-Driven Decisions-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Weekly AI insights turn CRM data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grounded, actionable sales intelligence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Business Impact</a:t>
            </a: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Less administrative work → Better data → Faster action → More productive sales teams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D8337-8335-2459-35BF-FC59127674CF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375C"/>
          </a:solidFill>
          <a:ln w="12700">
            <a:solidFill>
              <a:srgbClr val="11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6A4D7-A406-20FB-8554-0625D198BC63}"/>
              </a:ext>
            </a:extLst>
          </p:cNvPr>
          <p:cNvSpPr txBox="1"/>
          <p:nvPr/>
        </p:nvSpPr>
        <p:spPr>
          <a:xfrm>
            <a:off x="411480" y="4013"/>
            <a:ext cx="450155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SalesGenie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en-US" sz="2200" b="1" dirty="0">
                <a:solidFill>
                  <a:srgbClr val="FFFFFF"/>
                </a:solidFill>
                <a:latin typeface="Aptos"/>
              </a:rPr>
              <a:t> Business Outcome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7100663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1483</Words>
  <Application>Microsoft Office PowerPoint</Application>
  <PresentationFormat>Widescreen</PresentationFormat>
  <Paragraphs>280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Avenir Next LT Pro</vt:lpstr>
      <vt:lpstr>Avenir Next LT Pro Light</vt:lpstr>
      <vt:lpstr>Neue Haas Grotesk Text Pro</vt:lpstr>
      <vt:lpstr>GradientRise</vt:lpstr>
      <vt:lpstr>SalesGenie – AI Powered sales assistant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Balaji, Sreedevi</dc:creator>
  <cp:lastModifiedBy>Balaji, Sreedevi</cp:lastModifiedBy>
  <cp:revision>5</cp:revision>
  <dcterms:created xsi:type="dcterms:W3CDTF">2026-09-13T13:41:48Z</dcterms:created>
  <dcterms:modified xsi:type="dcterms:W3CDTF">2026-09-14T10:42:01Z</dcterms:modified>
</cp:coreProperties>
</file>